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7"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85" autoAdjust="0"/>
    <p:restoredTop sz="95196" autoAdjust="0"/>
  </p:normalViewPr>
  <p:slideViewPr>
    <p:cSldViewPr snapToGrid="0">
      <p:cViewPr varScale="1">
        <p:scale>
          <a:sx n="81" d="100"/>
          <a:sy n="81" d="100"/>
        </p:scale>
        <p:origin x="658"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swiniKumar55/-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00279" y="3736290"/>
            <a:ext cx="6738075" cy="861497"/>
          </a:xfrm>
        </p:spPr>
        <p:txBody>
          <a:bodyPr vert="horz" wrap="square" lIns="91440" tIns="45720" rIns="91440" bIns="45720" rtlCol="0" anchor="t">
            <a:normAutofit/>
          </a:bodyPr>
          <a:lstStyle/>
          <a:p>
            <a:pPr algn="l"/>
            <a:r>
              <a:rPr lang="en-US" sz="1800" b="0" dirty="0">
                <a:solidFill>
                  <a:srgbClr val="282828"/>
                </a:solidFill>
                <a:latin typeface="Aptos"/>
              </a:rPr>
              <a:t>                 </a:t>
            </a:r>
            <a:r>
              <a:rPr sz="1800" b="0" dirty="0">
                <a:solidFill>
                  <a:srgbClr val="282828"/>
                </a:solidFill>
                <a:latin typeface="Aptos"/>
              </a:rPr>
              <a:t>[</a:t>
            </a:r>
            <a:r>
              <a:rPr lang="en-US" sz="1800" b="0" dirty="0">
                <a:solidFill>
                  <a:srgbClr val="282828"/>
                </a:solidFill>
                <a:latin typeface="Aptos"/>
              </a:rPr>
              <a:t>Prachi Choudhary</a:t>
            </a:r>
            <a:r>
              <a:rPr sz="1800" b="0" dirty="0">
                <a:solidFill>
                  <a:srgbClr val="282828"/>
                </a:solidFill>
                <a:latin typeface="Aptos"/>
              </a:rPr>
              <a:t>]</a:t>
            </a:r>
            <a:br>
              <a:rPr dirty="0"/>
            </a:br>
            <a:r>
              <a:rPr lang="en-US" dirty="0"/>
              <a:t>          </a:t>
            </a:r>
            <a:r>
              <a:rPr sz="1800" b="0" dirty="0">
                <a:solidFill>
                  <a:srgbClr val="282828"/>
                </a:solidFill>
                <a:latin typeface="Aptos"/>
              </a:rPr>
              <a:t>[</a:t>
            </a:r>
            <a:r>
              <a:rPr lang="en-US" sz="1800" b="0" dirty="0">
                <a:solidFill>
                  <a:srgbClr val="282828"/>
                </a:solidFill>
                <a:latin typeface="Aptos"/>
              </a:rPr>
              <a:t>Meerut Institute of Engineering and Technology</a:t>
            </a:r>
            <a:r>
              <a:rPr sz="1800" b="0" dirty="0">
                <a:solidFill>
                  <a:srgbClr val="282828"/>
                </a:solidFill>
                <a:latin typeface="Aptos"/>
              </a:rPr>
              <a:t>]</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001093" y="2992842"/>
            <a:ext cx="8442925" cy="743448"/>
          </a:xfrm>
        </p:spPr>
        <p:txBody>
          <a:bodyPr wrap="square">
            <a:noAutofit/>
          </a:bodyPr>
          <a:lstStyle/>
          <a:p>
            <a:pPr algn="l"/>
            <a:r>
              <a:rPr sz="2400" b="1" dirty="0">
                <a:solidFill>
                  <a:srgbClr val="282828"/>
                </a:solidFill>
                <a:latin typeface="Aptos"/>
              </a:rPr>
              <a:t>Project Title - Seasonal Agriculture Performance Analysis</a:t>
            </a:r>
            <a:endParaRPr lang="en-IN" sz="24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316898" y="2874793"/>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45620" y="4576469"/>
            <a:ext cx="4546923" cy="323165"/>
          </a:xfrm>
          <a:prstGeom prst="rect">
            <a:avLst/>
          </a:prstGeom>
          <a:noFill/>
        </p:spPr>
        <p:txBody>
          <a:bodyPr wrap="square" rtlCol="0">
            <a:spAutoFit/>
          </a:bodyPr>
          <a:lstStyle/>
          <a:p>
            <a:r>
              <a:rPr sz="1500" b="0" dirty="0">
                <a:solidFill>
                  <a:srgbClr val="282828"/>
                </a:solidFill>
                <a:latin typeface="Aptos"/>
              </a:rPr>
              <a:t>AICTE STU ID : [</a:t>
            </a:r>
            <a:r>
              <a:rPr lang="en-IN" sz="1500" dirty="0">
                <a:solidFill>
                  <a:srgbClr val="282828"/>
                </a:solidFill>
                <a:latin typeface="Aptos"/>
              </a:rPr>
              <a:t>STU6a644531ce22b1784956209</a:t>
            </a:r>
            <a:r>
              <a:rPr sz="1500" b="0" dirty="0">
                <a:solidFill>
                  <a:srgbClr val="282828"/>
                </a:solidFill>
                <a:latin typeface="Aptos"/>
              </a:rPr>
              <a:t>]</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a:bodyPr>
          <a:lstStyle/>
          <a:p>
            <a:pPr>
              <a:lnSpc>
                <a:spcPct val="150000"/>
              </a:lnSpc>
            </a:pPr>
            <a:r>
              <a:rPr lang="en-IN" sz="2800" dirty="0"/>
              <a:t>(</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wrap="square">
            <a:normAutofit/>
          </a:bodyPr>
          <a:lstStyle/>
          <a:p>
            <a:pPr algn="l"/>
            <a:r>
              <a:rPr sz="2500" b="1">
                <a:solidFill>
                  <a:srgbClr val="282828"/>
                </a:solidFill>
                <a:latin typeface="Aptos"/>
              </a:rPr>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253697" y="1340528"/>
            <a:ext cx="7997414" cy="3000821"/>
          </a:xfrm>
          <a:prstGeom prst="rect">
            <a:avLst/>
          </a:prstGeom>
          <a:noFill/>
        </p:spPr>
        <p:txBody>
          <a:bodyPr wrap="square">
            <a:spAutoFit/>
          </a:bodyPr>
          <a:lstStyle/>
          <a:p>
            <a:pPr algn="l"/>
            <a:r>
              <a:rPr sz="1700" b="0" dirty="0">
                <a:solidFill>
                  <a:srgbClr val="282828"/>
                </a:solidFill>
                <a:latin typeface="Aptos"/>
              </a:rPr>
              <a:t>Agricultural activities are influenced by seasonal variations in environmental conditions, farming practices, resource availability and market conditions. As a result, agricultural performance may differ from one season to another.</a:t>
            </a:r>
            <a:br>
              <a:rPr dirty="0"/>
            </a:br>
            <a:br>
              <a:rPr dirty="0"/>
            </a:br>
            <a:r>
              <a:rPr sz="1700" b="0" dirty="0">
                <a:solidFill>
                  <a:srgbClr val="282828"/>
                </a:solidFill>
                <a:latin typeface="Aptos"/>
              </a:rPr>
              <a:t>However, raw agricultural data does not clearly explain how agricultural performance changes across seasons or what patterns can be observed in different seasonal conditions.</a:t>
            </a:r>
            <a:br>
              <a:rPr dirty="0"/>
            </a:br>
            <a:br>
              <a:rPr dirty="0"/>
            </a:br>
            <a:r>
              <a:rPr sz="1700" b="0" dirty="0">
                <a:solidFill>
                  <a:srgbClr val="282828"/>
                </a:solidFill>
                <a:latin typeface="Aptos"/>
              </a:rPr>
              <a:t>The problem is to analyze the given agricultural dataset and investigate seasonal differences in agricultural performance by identifying meaningful patterns, trends, relationships and variations within the available data.</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wrap="square">
            <a:normAutofit/>
          </a:bodyPr>
          <a:lstStyle/>
          <a:p>
            <a:pPr algn="l"/>
            <a:r>
              <a:rPr sz="2500" b="1">
                <a:solidFill>
                  <a:srgbClr val="282828"/>
                </a:solidFill>
                <a:latin typeface="Aptos"/>
              </a:rPr>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868680" y="1417320"/>
            <a:ext cx="9418320" cy="1280160"/>
          </a:xfrm>
          <a:prstGeom prst="rect">
            <a:avLst/>
          </a:prstGeom>
          <a:noFill/>
        </p:spPr>
        <p:txBody>
          <a:bodyPr wrap="square">
            <a:spAutoFit/>
          </a:bodyPr>
          <a:lstStyle/>
          <a:p>
            <a:pPr algn="l"/>
            <a:r>
              <a:rPr sz="1800" b="0">
                <a:solidFill>
                  <a:srgbClr val="282828"/>
                </a:solidFill>
                <a:latin typeface="Aptos"/>
              </a:rPr>
              <a:t>The dataset represents agricultural activities carried out across different seasons, geographical areas and farming conditions. It contains information related to farming practices, environmental conditions, crop production, resource usage and economic performance.</a:t>
            </a:r>
          </a:p>
        </p:txBody>
      </p:sp>
      <p:sp>
        <p:nvSpPr>
          <p:cNvPr id="11" name="TextBox 10"/>
          <p:cNvSpPr txBox="1"/>
          <p:nvPr/>
        </p:nvSpPr>
        <p:spPr>
          <a:xfrm>
            <a:off x="960120" y="2926080"/>
            <a:ext cx="8961120" cy="2286000"/>
          </a:xfrm>
          <a:prstGeom prst="rect">
            <a:avLst/>
          </a:prstGeom>
          <a:noFill/>
        </p:spPr>
        <p:txBody>
          <a:bodyPr wrap="square">
            <a:spAutoFit/>
          </a:bodyPr>
          <a:lstStyle/>
          <a:p>
            <a:pPr>
              <a:spcAft>
                <a:spcPts val="800"/>
              </a:spcAft>
              <a:defRPr sz="1700">
                <a:solidFill>
                  <a:srgbClr val="2D2D2D"/>
                </a:solidFill>
                <a:latin typeface="Aptos"/>
              </a:defRPr>
            </a:pPr>
            <a:r>
              <a:t>• Understand how agricultural performance changes across seasons.</a:t>
            </a:r>
          </a:p>
          <a:p>
            <a:pPr>
              <a:spcAft>
                <a:spcPts val="800"/>
              </a:spcAft>
              <a:defRPr sz="1700">
                <a:solidFill>
                  <a:srgbClr val="2D2D2D"/>
                </a:solidFill>
                <a:latin typeface="Aptos"/>
              </a:defRPr>
            </a:pPr>
            <a:r>
              <a:t>• Clean and prepare the data before analysis.</a:t>
            </a:r>
          </a:p>
          <a:p>
            <a:pPr>
              <a:spcAft>
                <a:spcPts val="800"/>
              </a:spcAft>
              <a:defRPr sz="1700">
                <a:solidFill>
                  <a:srgbClr val="2D2D2D"/>
                </a:solidFill>
                <a:latin typeface="Aptos"/>
              </a:defRPr>
            </a:pPr>
            <a:r>
              <a:t>• Compare yield, production, resource usage and economic performance.</a:t>
            </a:r>
          </a:p>
          <a:p>
            <a:pPr>
              <a:spcAft>
                <a:spcPts val="800"/>
              </a:spcAft>
              <a:defRPr sz="1700">
                <a:solidFill>
                  <a:srgbClr val="2D2D2D"/>
                </a:solidFill>
                <a:latin typeface="Aptos"/>
              </a:defRPr>
            </a:pPr>
            <a:r>
              <a:t>• Identify meaningful patterns and relationships from the available data.</a:t>
            </a:r>
          </a:p>
          <a:p>
            <a:pPr>
              <a:spcAft>
                <a:spcPts val="800"/>
              </a:spcAft>
              <a:defRPr sz="1700">
                <a:solidFill>
                  <a:srgbClr val="2D2D2D"/>
                </a:solidFill>
                <a:latin typeface="Aptos"/>
              </a:defRPr>
            </a:pPr>
            <a:r>
              <a:t>• Give evidence-based insights and recommendations.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wrap="square">
            <a:normAutofit/>
          </a:bodyPr>
          <a:lstStyle/>
          <a:p>
            <a:pPr algn="l"/>
            <a:r>
              <a:rPr sz="2500" b="1">
                <a:solidFill>
                  <a:srgbClr val="282828"/>
                </a:solidFill>
                <a:latin typeface="Aptos"/>
              </a:rPr>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914400" y="1508760"/>
            <a:ext cx="9052560" cy="4114800"/>
          </a:xfrm>
          <a:prstGeom prst="rect">
            <a:avLst/>
          </a:prstGeom>
          <a:noFill/>
        </p:spPr>
        <p:txBody>
          <a:bodyPr wrap="square">
            <a:spAutoFit/>
          </a:bodyPr>
          <a:lstStyle/>
          <a:p>
            <a:pPr>
              <a:spcAft>
                <a:spcPts val="800"/>
              </a:spcAft>
              <a:defRPr sz="1900">
                <a:solidFill>
                  <a:srgbClr val="2D2D2D"/>
                </a:solidFill>
                <a:latin typeface="Aptos"/>
              </a:defRPr>
            </a:pPr>
            <a:r>
              <a:t>• Farmers – understand seasonal and crop-level performance.</a:t>
            </a:r>
          </a:p>
          <a:p>
            <a:pPr>
              <a:spcAft>
                <a:spcPts val="800"/>
              </a:spcAft>
              <a:defRPr sz="1900">
                <a:solidFill>
                  <a:srgbClr val="2D2D2D"/>
                </a:solidFill>
                <a:latin typeface="Aptos"/>
              </a:defRPr>
            </a:pPr>
            <a:r>
              <a:t>• Agriculture officers – support agricultural planning.</a:t>
            </a:r>
          </a:p>
          <a:p>
            <a:pPr>
              <a:spcAft>
                <a:spcPts val="800"/>
              </a:spcAft>
              <a:defRPr sz="1900">
                <a:solidFill>
                  <a:srgbClr val="2D2D2D"/>
                </a:solidFill>
                <a:latin typeface="Aptos"/>
              </a:defRPr>
            </a:pPr>
            <a:r>
              <a:t>• Researchers and students – study agricultural patterns.</a:t>
            </a:r>
          </a:p>
          <a:p>
            <a:pPr>
              <a:spcAft>
                <a:spcPts val="800"/>
              </a:spcAft>
              <a:defRPr sz="1900">
                <a:solidFill>
                  <a:srgbClr val="2D2D2D"/>
                </a:solidFill>
                <a:latin typeface="Aptos"/>
              </a:defRPr>
            </a:pPr>
            <a:r>
              <a:t>• Agribusinesses – compare production and profitability.</a:t>
            </a:r>
          </a:p>
          <a:p>
            <a:pPr>
              <a:spcAft>
                <a:spcPts val="800"/>
              </a:spcAft>
              <a:defRPr sz="1900">
                <a:solidFill>
                  <a:srgbClr val="2D2D2D"/>
                </a:solidFill>
                <a:latin typeface="Aptos"/>
              </a:defRPr>
            </a:pPr>
            <a:r>
              <a:t>• Policy planners – use evidence for further planning.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wrap="square">
            <a:normAutofit/>
          </a:bodyPr>
          <a:lstStyle/>
          <a:p>
            <a:pPr algn="l"/>
            <a:r>
              <a:rPr sz="2500" b="1">
                <a:solidFill>
                  <a:srgbClr val="282828"/>
                </a:solidFill>
                <a:latin typeface="Aptos"/>
              </a:rPr>
              <a:t>Technology Used</a:t>
            </a:r>
          </a:p>
        </p:txBody>
      </p:sp>
      <p:sp>
        <p:nvSpPr>
          <p:cNvPr id="17" name="TextBox 16"/>
          <p:cNvSpPr txBox="1"/>
          <p:nvPr/>
        </p:nvSpPr>
        <p:spPr>
          <a:xfrm>
            <a:off x="1097280" y="1417320"/>
            <a:ext cx="8686800" cy="4114800"/>
          </a:xfrm>
          <a:prstGeom prst="rect">
            <a:avLst/>
          </a:prstGeom>
          <a:noFill/>
        </p:spPr>
        <p:txBody>
          <a:bodyPr wrap="square">
            <a:spAutoFit/>
          </a:bodyPr>
          <a:lstStyle/>
          <a:p>
            <a:pPr>
              <a:spcAft>
                <a:spcPts val="800"/>
              </a:spcAft>
              <a:defRPr sz="2000">
                <a:solidFill>
                  <a:srgbClr val="2D2D2D"/>
                </a:solidFill>
                <a:latin typeface="Aptos"/>
              </a:defRPr>
            </a:pPr>
            <a:r>
              <a:rPr dirty="0"/>
              <a:t>• Python</a:t>
            </a:r>
            <a:endParaRPr lang="en-IN" dirty="0"/>
          </a:p>
          <a:p>
            <a:pPr>
              <a:spcAft>
                <a:spcPts val="800"/>
              </a:spcAft>
              <a:defRPr sz="2000">
                <a:solidFill>
                  <a:srgbClr val="2D2D2D"/>
                </a:solidFill>
                <a:latin typeface="Aptos"/>
              </a:defRPr>
            </a:pPr>
            <a:r>
              <a:rPr lang="en-IN" dirty="0"/>
              <a:t>• Google </a:t>
            </a:r>
            <a:r>
              <a:rPr lang="en-IN" dirty="0" err="1"/>
              <a:t>Colab</a:t>
            </a:r>
            <a:endParaRPr lang="en-IN" dirty="0"/>
          </a:p>
          <a:p>
            <a:pPr>
              <a:spcAft>
                <a:spcPts val="800"/>
              </a:spcAft>
              <a:defRPr sz="2000">
                <a:solidFill>
                  <a:srgbClr val="2D2D2D"/>
                </a:solidFill>
                <a:latin typeface="Aptos"/>
              </a:defRPr>
            </a:pPr>
            <a:r>
              <a:rPr dirty="0"/>
              <a:t>• Pandas</a:t>
            </a:r>
          </a:p>
          <a:p>
            <a:pPr>
              <a:spcAft>
                <a:spcPts val="800"/>
              </a:spcAft>
              <a:defRPr sz="2000">
                <a:solidFill>
                  <a:srgbClr val="2D2D2D"/>
                </a:solidFill>
                <a:latin typeface="Aptos"/>
              </a:defRPr>
            </a:pPr>
            <a:r>
              <a:rPr dirty="0"/>
              <a:t>• NumPy</a:t>
            </a:r>
          </a:p>
          <a:p>
            <a:pPr>
              <a:spcAft>
                <a:spcPts val="800"/>
              </a:spcAft>
              <a:defRPr sz="2000">
                <a:solidFill>
                  <a:srgbClr val="2D2D2D"/>
                </a:solidFill>
                <a:latin typeface="Aptos"/>
              </a:defRPr>
            </a:pPr>
            <a:r>
              <a:rPr dirty="0"/>
              <a:t>• Matplotlib</a:t>
            </a:r>
          </a:p>
          <a:p>
            <a:pPr>
              <a:spcAft>
                <a:spcPts val="800"/>
              </a:spcAft>
              <a:defRPr sz="2000">
                <a:solidFill>
                  <a:srgbClr val="2D2D2D"/>
                </a:solidFill>
                <a:latin typeface="Aptos"/>
              </a:defRPr>
            </a:pPr>
            <a:r>
              <a:rPr dirty="0"/>
              <a:t>• Seaborn</a:t>
            </a:r>
          </a:p>
          <a:p>
            <a:pPr>
              <a:spcAft>
                <a:spcPts val="800"/>
              </a:spcAft>
              <a:defRPr sz="2000">
                <a:solidFill>
                  <a:srgbClr val="2D2D2D"/>
                </a:solidFill>
                <a:latin typeface="Aptos"/>
              </a:defRPr>
            </a:pPr>
            <a:r>
              <a:rPr dirty="0"/>
              <a:t>• CSV dataset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20982" y="106308"/>
            <a:ext cx="6899219" cy="830997"/>
          </a:xfrm>
        </p:spPr>
        <p:txBody>
          <a:bodyPr wrap="square">
            <a:normAutofit/>
          </a:bodyPr>
          <a:lstStyle/>
          <a:p>
            <a:pPr algn="l"/>
            <a:r>
              <a:rPr sz="2200" b="1" dirty="0">
                <a:solidFill>
                  <a:srgbClr val="282828"/>
                </a:solidFill>
                <a:latin typeface="Aptos"/>
              </a:rPr>
              <a:t>RESULTS – DATA UNDERSTANDING &amp; CLEANING</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5623560" y="1417320"/>
            <a:ext cx="4572000" cy="1451679"/>
          </a:xfrm>
          <a:prstGeom prst="rect">
            <a:avLst/>
          </a:prstGeom>
          <a:noFill/>
        </p:spPr>
        <p:txBody>
          <a:bodyPr wrap="square">
            <a:spAutoFit/>
          </a:bodyPr>
          <a:lstStyle/>
          <a:p>
            <a:pPr>
              <a:spcAft>
                <a:spcPts val="800"/>
              </a:spcAft>
              <a:defRPr sz="1500">
                <a:solidFill>
                  <a:srgbClr val="2D2D2D"/>
                </a:solidFill>
                <a:latin typeface="Aptos"/>
              </a:defRPr>
            </a:pPr>
            <a:r>
              <a:rPr dirty="0"/>
              <a:t>• Dataset contains 4,000 rows and 28 columns.</a:t>
            </a:r>
          </a:p>
          <a:p>
            <a:pPr>
              <a:spcAft>
                <a:spcPts val="800"/>
              </a:spcAft>
              <a:defRPr sz="1500">
                <a:solidFill>
                  <a:srgbClr val="2D2D2D"/>
                </a:solidFill>
                <a:latin typeface="Aptos"/>
              </a:defRPr>
            </a:pPr>
            <a:r>
              <a:rPr dirty="0"/>
              <a:t>• Missing values were found in Rainfall, Soil Moisture and Yield.</a:t>
            </a:r>
          </a:p>
          <a:p>
            <a:pPr>
              <a:spcAft>
                <a:spcPts val="800"/>
              </a:spcAft>
              <a:defRPr sz="1500">
                <a:solidFill>
                  <a:srgbClr val="2D2D2D"/>
                </a:solidFill>
                <a:latin typeface="Aptos"/>
              </a:defRPr>
            </a:pPr>
            <a:r>
              <a:rPr dirty="0"/>
              <a:t>• 48 rainfall, 40 soil-moisture and 32 yield values were missing.</a:t>
            </a:r>
          </a:p>
        </p:txBody>
      </p:sp>
      <p:pic>
        <p:nvPicPr>
          <p:cNvPr id="3" name="Picture 2">
            <a:extLst>
              <a:ext uri="{FF2B5EF4-FFF2-40B4-BE49-F238E27FC236}">
                <a16:creationId xmlns:a16="http://schemas.microsoft.com/office/drawing/2014/main" id="{6C55C924-CC8D-9D9B-4B51-80FF8704A29F}"/>
              </a:ext>
            </a:extLst>
          </p:cNvPr>
          <p:cNvPicPr>
            <a:picLocks noChangeAspect="1"/>
          </p:cNvPicPr>
          <p:nvPr/>
        </p:nvPicPr>
        <p:blipFill>
          <a:blip r:embed="rId3"/>
          <a:stretch>
            <a:fillRect/>
          </a:stretch>
        </p:blipFill>
        <p:spPr>
          <a:xfrm>
            <a:off x="90194" y="816172"/>
            <a:ext cx="4674636" cy="1451679"/>
          </a:xfrm>
          <a:prstGeom prst="rect">
            <a:avLst/>
          </a:prstGeom>
        </p:spPr>
      </p:pic>
      <p:pic>
        <p:nvPicPr>
          <p:cNvPr id="9" name="Picture 8">
            <a:extLst>
              <a:ext uri="{FF2B5EF4-FFF2-40B4-BE49-F238E27FC236}">
                <a16:creationId xmlns:a16="http://schemas.microsoft.com/office/drawing/2014/main" id="{0D5B701E-BE56-132A-5EC2-A73DE93EE3D3}"/>
              </a:ext>
            </a:extLst>
          </p:cNvPr>
          <p:cNvPicPr>
            <a:picLocks noChangeAspect="1"/>
          </p:cNvPicPr>
          <p:nvPr/>
        </p:nvPicPr>
        <p:blipFill>
          <a:blip r:embed="rId4"/>
          <a:stretch>
            <a:fillRect/>
          </a:stretch>
        </p:blipFill>
        <p:spPr>
          <a:xfrm>
            <a:off x="90194" y="2267851"/>
            <a:ext cx="5457775" cy="331477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95840A-DF49-D5A4-06E1-E765AFA86547}"/>
              </a:ext>
            </a:extLst>
          </p:cNvPr>
          <p:cNvSpPr>
            <a:spLocks noGrp="1"/>
          </p:cNvSpPr>
          <p:nvPr>
            <p:ph type="body" sz="quarter" idx="12"/>
          </p:nvPr>
        </p:nvSpPr>
        <p:spPr>
          <a:xfrm>
            <a:off x="5348939" y="1381311"/>
            <a:ext cx="4275138" cy="3560763"/>
          </a:xfrm>
        </p:spPr>
        <p:txBody>
          <a:bodyPr/>
          <a:lstStyle/>
          <a:p>
            <a:pPr>
              <a:spcAft>
                <a:spcPts val="800"/>
              </a:spcAft>
              <a:defRPr sz="1500">
                <a:solidFill>
                  <a:srgbClr val="2D2D2D"/>
                </a:solidFill>
                <a:latin typeface="Aptos"/>
              </a:defRPr>
            </a:pPr>
            <a:r>
              <a:rPr lang="en-US" sz="1800" dirty="0"/>
              <a:t> No duplicate records were found.</a:t>
            </a:r>
          </a:p>
          <a:p>
            <a:pPr>
              <a:spcAft>
                <a:spcPts val="800"/>
              </a:spcAft>
              <a:defRPr sz="1500">
                <a:solidFill>
                  <a:srgbClr val="2D2D2D"/>
                </a:solidFill>
                <a:latin typeface="Aptos"/>
              </a:defRPr>
            </a:pPr>
            <a:r>
              <a:rPr lang="en-US" sz="1800" dirty="0"/>
              <a:t> Missing numerical values were handled using median imputation.</a:t>
            </a:r>
          </a:p>
          <a:p>
            <a:endParaRPr lang="en-IN" dirty="0"/>
          </a:p>
        </p:txBody>
      </p:sp>
      <p:sp>
        <p:nvSpPr>
          <p:cNvPr id="4" name="Title 3">
            <a:extLst>
              <a:ext uri="{FF2B5EF4-FFF2-40B4-BE49-F238E27FC236}">
                <a16:creationId xmlns:a16="http://schemas.microsoft.com/office/drawing/2014/main" id="{F0348D1A-B8FC-4EB1-F3A7-512288A687B7}"/>
              </a:ext>
            </a:extLst>
          </p:cNvPr>
          <p:cNvSpPr>
            <a:spLocks noGrp="1"/>
          </p:cNvSpPr>
          <p:nvPr>
            <p:ph type="title"/>
          </p:nvPr>
        </p:nvSpPr>
        <p:spPr>
          <a:xfrm>
            <a:off x="328706" y="263284"/>
            <a:ext cx="8788400" cy="830997"/>
          </a:xfrm>
        </p:spPr>
        <p:txBody>
          <a:bodyPr>
            <a:normAutofit/>
          </a:bodyPr>
          <a:lstStyle/>
          <a:p>
            <a:r>
              <a:rPr lang="en-IN" sz="2800" dirty="0">
                <a:solidFill>
                  <a:srgbClr val="282828"/>
                </a:solidFill>
                <a:latin typeface="Aptos"/>
              </a:rPr>
              <a:t>RESULTS – DATA UNDERSTANDING &amp; CLEANING</a:t>
            </a:r>
            <a:endParaRPr lang="en-IN" sz="2800" dirty="0"/>
          </a:p>
        </p:txBody>
      </p:sp>
      <p:pic>
        <p:nvPicPr>
          <p:cNvPr id="12" name="Picture 11">
            <a:extLst>
              <a:ext uri="{FF2B5EF4-FFF2-40B4-BE49-F238E27FC236}">
                <a16:creationId xmlns:a16="http://schemas.microsoft.com/office/drawing/2014/main" id="{5E50B419-8F06-8835-A0B1-40C1E6172C03}"/>
              </a:ext>
            </a:extLst>
          </p:cNvPr>
          <p:cNvPicPr>
            <a:picLocks noChangeAspect="1"/>
          </p:cNvPicPr>
          <p:nvPr/>
        </p:nvPicPr>
        <p:blipFill>
          <a:blip r:embed="rId2"/>
          <a:stretch>
            <a:fillRect/>
          </a:stretch>
        </p:blipFill>
        <p:spPr>
          <a:xfrm>
            <a:off x="216949" y="1381311"/>
            <a:ext cx="4701947" cy="1218454"/>
          </a:xfrm>
          <a:prstGeom prst="rect">
            <a:avLst/>
          </a:prstGeom>
        </p:spPr>
      </p:pic>
      <p:pic>
        <p:nvPicPr>
          <p:cNvPr id="14" name="Picture 13">
            <a:extLst>
              <a:ext uri="{FF2B5EF4-FFF2-40B4-BE49-F238E27FC236}">
                <a16:creationId xmlns:a16="http://schemas.microsoft.com/office/drawing/2014/main" id="{6FA0E338-184F-688F-3838-39EA12E25079}"/>
              </a:ext>
            </a:extLst>
          </p:cNvPr>
          <p:cNvPicPr>
            <a:picLocks noChangeAspect="1"/>
          </p:cNvPicPr>
          <p:nvPr/>
        </p:nvPicPr>
        <p:blipFill>
          <a:blip r:embed="rId3"/>
          <a:stretch>
            <a:fillRect/>
          </a:stretch>
        </p:blipFill>
        <p:spPr>
          <a:xfrm>
            <a:off x="0" y="2921817"/>
            <a:ext cx="5944115" cy="2020257"/>
          </a:xfrm>
          <a:prstGeom prst="rect">
            <a:avLst/>
          </a:prstGeom>
        </p:spPr>
      </p:pic>
    </p:spTree>
    <p:extLst>
      <p:ext uri="{BB962C8B-B14F-4D97-AF65-F5344CB8AC3E}">
        <p14:creationId xmlns:p14="http://schemas.microsoft.com/office/powerpoint/2010/main" val="363183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wrap="square">
            <a:normAutofit/>
          </a:bodyPr>
          <a:lstStyle/>
          <a:p>
            <a:pPr algn="l"/>
            <a:r>
              <a:rPr sz="2200" b="1">
                <a:solidFill>
                  <a:srgbClr val="282828"/>
                </a:solidFill>
                <a:latin typeface="Aptos"/>
              </a:rPr>
              <a:t>RESULTS – SEASONAL PERFORMANCE</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
        <p:nvSpPr>
          <p:cNvPr id="31" name="TextBox 30"/>
          <p:cNvSpPr txBox="1"/>
          <p:nvPr/>
        </p:nvSpPr>
        <p:spPr>
          <a:xfrm>
            <a:off x="5623560" y="1417320"/>
            <a:ext cx="4572000" cy="4389120"/>
          </a:xfrm>
          <a:prstGeom prst="rect">
            <a:avLst/>
          </a:prstGeom>
          <a:noFill/>
        </p:spPr>
        <p:txBody>
          <a:bodyPr wrap="square">
            <a:spAutoFit/>
          </a:bodyPr>
          <a:lstStyle/>
          <a:p>
            <a:pPr>
              <a:spcAft>
                <a:spcPts val="800"/>
              </a:spcAft>
              <a:defRPr sz="1500">
                <a:solidFill>
                  <a:srgbClr val="2D2D2D"/>
                </a:solidFill>
                <a:latin typeface="Aptos"/>
              </a:defRPr>
            </a:pPr>
            <a:r>
              <a:t>• Kharif had the highest average yield: 5.63 tonnes/ha.</a:t>
            </a:r>
          </a:p>
          <a:p>
            <a:pPr>
              <a:spcAft>
                <a:spcPts val="800"/>
              </a:spcAft>
              <a:defRPr sz="1500">
                <a:solidFill>
                  <a:srgbClr val="2D2D2D"/>
                </a:solidFill>
                <a:latin typeface="Aptos"/>
              </a:defRPr>
            </a:pPr>
            <a:r>
              <a:t>• Rabi had an average yield of 5.04 tonnes/ha.</a:t>
            </a:r>
          </a:p>
          <a:p>
            <a:pPr>
              <a:spcAft>
                <a:spcPts val="800"/>
              </a:spcAft>
              <a:defRPr sz="1500">
                <a:solidFill>
                  <a:srgbClr val="2D2D2D"/>
                </a:solidFill>
                <a:latin typeface="Aptos"/>
              </a:defRPr>
            </a:pPr>
            <a:r>
              <a:t>• Zaid had the lowest average yield: 4.64 tonnes/ha.</a:t>
            </a:r>
          </a:p>
          <a:p>
            <a:pPr>
              <a:spcAft>
                <a:spcPts val="800"/>
              </a:spcAft>
              <a:defRPr sz="1500">
                <a:solidFill>
                  <a:srgbClr val="2D2D2D"/>
                </a:solidFill>
                <a:latin typeface="Aptos"/>
              </a:defRPr>
            </a:pPr>
            <a:r>
              <a:t>• Kharif had the highest average profit: about ₹178,915 per record.</a:t>
            </a:r>
          </a:p>
          <a:p>
            <a:pPr>
              <a:spcAft>
                <a:spcPts val="800"/>
              </a:spcAft>
              <a:defRPr sz="1500">
                <a:solidFill>
                  <a:srgbClr val="2D2D2D"/>
                </a:solidFill>
                <a:latin typeface="Aptos"/>
              </a:defRPr>
            </a:pPr>
            <a:r>
              <a:t>• Zaid had a negative average profit of about ₹24,805 per record.</a:t>
            </a:r>
          </a:p>
        </p:txBody>
      </p:sp>
      <p:pic>
        <p:nvPicPr>
          <p:cNvPr id="32" name="Picture 31" descr="45_0.png"/>
          <p:cNvPicPr>
            <a:picLocks noChangeAspect="1"/>
          </p:cNvPicPr>
          <p:nvPr/>
        </p:nvPicPr>
        <p:blipFill>
          <a:blip r:embed="rId3"/>
          <a:stretch>
            <a:fillRect/>
          </a:stretch>
        </p:blipFill>
        <p:spPr>
          <a:xfrm>
            <a:off x="107576" y="1417320"/>
            <a:ext cx="5241664" cy="290718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wrap="square">
            <a:normAutofit fontScale="90000"/>
          </a:bodyPr>
          <a:lstStyle/>
          <a:p>
            <a:pPr algn="l"/>
            <a:r>
              <a:rPr sz="2200" b="1">
                <a:solidFill>
                  <a:srgbClr val="282828"/>
                </a:solidFill>
                <a:latin typeface="Aptos"/>
              </a:rPr>
              <a:t>RESULTS – CROP &amp; SEASON COMPARISON</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
        <p:nvSpPr>
          <p:cNvPr id="31" name="TextBox 30"/>
          <p:cNvSpPr txBox="1"/>
          <p:nvPr/>
        </p:nvSpPr>
        <p:spPr>
          <a:xfrm>
            <a:off x="5623560" y="1417320"/>
            <a:ext cx="4572000" cy="4389120"/>
          </a:xfrm>
          <a:prstGeom prst="rect">
            <a:avLst/>
          </a:prstGeom>
          <a:noFill/>
        </p:spPr>
        <p:txBody>
          <a:bodyPr wrap="square">
            <a:spAutoFit/>
          </a:bodyPr>
          <a:lstStyle/>
          <a:p>
            <a:pPr>
              <a:spcAft>
                <a:spcPts val="800"/>
              </a:spcAft>
              <a:defRPr sz="1500">
                <a:solidFill>
                  <a:srgbClr val="2D2D2D"/>
                </a:solidFill>
                <a:latin typeface="Aptos"/>
              </a:defRPr>
            </a:pPr>
            <a:r>
              <a:t>• Crop performance changes across seasons.</a:t>
            </a:r>
          </a:p>
          <a:p>
            <a:pPr>
              <a:spcAft>
                <a:spcPts val="800"/>
              </a:spcAft>
              <a:defRPr sz="1500">
                <a:solidFill>
                  <a:srgbClr val="2D2D2D"/>
                </a:solidFill>
                <a:latin typeface="Aptos"/>
              </a:defRPr>
            </a:pPr>
            <a:r>
              <a:t>• Sugarcane showed substantially higher yield than the other crops in the available results.</a:t>
            </a:r>
          </a:p>
          <a:p>
            <a:pPr>
              <a:spcAft>
                <a:spcPts val="800"/>
              </a:spcAft>
              <a:defRPr sz="1500">
                <a:solidFill>
                  <a:srgbClr val="2D2D2D"/>
                </a:solidFill>
                <a:latin typeface="Aptos"/>
              </a:defRPr>
            </a:pPr>
            <a:r>
              <a:t>• Kharif sugarcane had an average yield of about 53.46 tonnes/ha.</a:t>
            </a:r>
          </a:p>
          <a:p>
            <a:pPr>
              <a:spcAft>
                <a:spcPts val="800"/>
              </a:spcAft>
              <a:defRPr sz="1500">
                <a:solidFill>
                  <a:srgbClr val="2D2D2D"/>
                </a:solidFill>
                <a:latin typeface="Aptos"/>
              </a:defRPr>
            </a:pPr>
            <a:r>
              <a:t>• Profitability also differed between crop-season combinations.</a:t>
            </a:r>
          </a:p>
          <a:p>
            <a:pPr>
              <a:spcAft>
                <a:spcPts val="800"/>
              </a:spcAft>
              <a:defRPr sz="1500">
                <a:solidFill>
                  <a:srgbClr val="2D2D2D"/>
                </a:solidFill>
                <a:latin typeface="Aptos"/>
              </a:defRPr>
            </a:pPr>
            <a:r>
              <a:t>• Season and crop together provide a clearer view than looking at crop averages alone.</a:t>
            </a:r>
          </a:p>
        </p:txBody>
      </p:sp>
      <p:pic>
        <p:nvPicPr>
          <p:cNvPr id="32" name="Picture 31" descr="56_0.png"/>
          <p:cNvPicPr>
            <a:picLocks noChangeAspect="1"/>
          </p:cNvPicPr>
          <p:nvPr/>
        </p:nvPicPr>
        <p:blipFill>
          <a:blip r:embed="rId3"/>
          <a:stretch>
            <a:fillRect/>
          </a:stretch>
        </p:blipFill>
        <p:spPr>
          <a:xfrm>
            <a:off x="170329" y="1417320"/>
            <a:ext cx="5178911" cy="316364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wrap="square">
            <a:normAutofit fontScale="90000"/>
          </a:bodyPr>
          <a:lstStyle/>
          <a:p>
            <a:pPr algn="l"/>
            <a:r>
              <a:rPr sz="2200" b="1">
                <a:solidFill>
                  <a:srgbClr val="282828"/>
                </a:solidFill>
                <a:latin typeface="Aptos"/>
              </a:rPr>
              <a:t>RESULTS – ADDITIONAL ANALYSIS &amp; INSIGHTS</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
        <p:nvSpPr>
          <p:cNvPr id="31" name="TextBox 30"/>
          <p:cNvSpPr txBox="1"/>
          <p:nvPr/>
        </p:nvSpPr>
        <p:spPr>
          <a:xfrm>
            <a:off x="4814046" y="1325880"/>
            <a:ext cx="5427233" cy="4480560"/>
          </a:xfrm>
          <a:prstGeom prst="rect">
            <a:avLst/>
          </a:prstGeom>
          <a:noFill/>
        </p:spPr>
        <p:txBody>
          <a:bodyPr wrap="square">
            <a:spAutoFit/>
          </a:bodyPr>
          <a:lstStyle/>
          <a:p>
            <a:pPr>
              <a:spcAft>
                <a:spcPts val="800"/>
              </a:spcAft>
              <a:defRPr sz="1700">
                <a:solidFill>
                  <a:srgbClr val="2D2D2D"/>
                </a:solidFill>
                <a:latin typeface="Aptos"/>
              </a:defRPr>
            </a:pPr>
            <a:r>
              <a:rPr dirty="0"/>
              <a:t>• Univariate analysis was used to understand individual variables.</a:t>
            </a:r>
          </a:p>
          <a:p>
            <a:pPr>
              <a:spcAft>
                <a:spcPts val="800"/>
              </a:spcAft>
              <a:defRPr sz="1700">
                <a:solidFill>
                  <a:srgbClr val="2D2D2D"/>
                </a:solidFill>
                <a:latin typeface="Aptos"/>
              </a:defRPr>
            </a:pPr>
            <a:r>
              <a:rPr dirty="0"/>
              <a:t>• Bivariate analysis compared rainfall vs yield and farm area vs production.</a:t>
            </a:r>
          </a:p>
          <a:p>
            <a:pPr>
              <a:spcAft>
                <a:spcPts val="800"/>
              </a:spcAft>
              <a:defRPr sz="1700">
                <a:solidFill>
                  <a:srgbClr val="2D2D2D"/>
                </a:solidFill>
                <a:latin typeface="Aptos"/>
              </a:defRPr>
            </a:pPr>
            <a:r>
              <a:rPr dirty="0"/>
              <a:t>• Multivariate analysis considered several factors together.</a:t>
            </a:r>
          </a:p>
          <a:p>
            <a:pPr>
              <a:spcAft>
                <a:spcPts val="800"/>
              </a:spcAft>
              <a:defRPr sz="1700">
                <a:solidFill>
                  <a:srgbClr val="2D2D2D"/>
                </a:solidFill>
                <a:latin typeface="Aptos"/>
              </a:defRPr>
            </a:pPr>
            <a:r>
              <a:rPr dirty="0"/>
              <a:t>• Correlation analysis identified relationships among numerical variables.</a:t>
            </a:r>
          </a:p>
          <a:p>
            <a:pPr>
              <a:spcAft>
                <a:spcPts val="800"/>
              </a:spcAft>
              <a:defRPr sz="1700">
                <a:solidFill>
                  <a:srgbClr val="2D2D2D"/>
                </a:solidFill>
                <a:latin typeface="Aptos"/>
              </a:defRPr>
            </a:pPr>
            <a:r>
              <a:rPr dirty="0"/>
              <a:t>• Irrigation methods were compared using yield, water usage and water efficiency.</a:t>
            </a:r>
          </a:p>
          <a:p>
            <a:pPr>
              <a:spcAft>
                <a:spcPts val="800"/>
              </a:spcAft>
              <a:defRPr sz="1700">
                <a:solidFill>
                  <a:srgbClr val="2D2D2D"/>
                </a:solidFill>
                <a:latin typeface="Aptos"/>
              </a:defRPr>
            </a:pPr>
            <a:r>
              <a:rPr dirty="0"/>
              <a:t>• Disease/pest risk groups were compared with yield and profit.</a:t>
            </a:r>
          </a:p>
          <a:p>
            <a:pPr>
              <a:spcAft>
                <a:spcPts val="800"/>
              </a:spcAft>
              <a:defRPr sz="1700">
                <a:solidFill>
                  <a:srgbClr val="2D2D2D"/>
                </a:solidFill>
                <a:latin typeface="Aptos"/>
              </a:defRPr>
            </a:pPr>
            <a:r>
              <a:rPr dirty="0"/>
              <a:t>• These analyses supported evidence-based insights and recommendations.</a:t>
            </a:r>
          </a:p>
        </p:txBody>
      </p:sp>
      <p:pic>
        <p:nvPicPr>
          <p:cNvPr id="3" name="Picture 2">
            <a:extLst>
              <a:ext uri="{FF2B5EF4-FFF2-40B4-BE49-F238E27FC236}">
                <a16:creationId xmlns:a16="http://schemas.microsoft.com/office/drawing/2014/main" id="{2F9F0F6B-394A-4F8A-1C0D-48A038C5ABD2}"/>
              </a:ext>
            </a:extLst>
          </p:cNvPr>
          <p:cNvPicPr>
            <a:picLocks noChangeAspect="1"/>
          </p:cNvPicPr>
          <p:nvPr/>
        </p:nvPicPr>
        <p:blipFill>
          <a:blip r:embed="rId3"/>
          <a:stretch>
            <a:fillRect/>
          </a:stretch>
        </p:blipFill>
        <p:spPr>
          <a:xfrm>
            <a:off x="111920" y="1124542"/>
            <a:ext cx="4536182" cy="2537217"/>
          </a:xfrm>
          <a:prstGeom prst="rect">
            <a:avLst/>
          </a:prstGeom>
        </p:spPr>
      </p:pic>
      <p:pic>
        <p:nvPicPr>
          <p:cNvPr id="9" name="Picture 8">
            <a:extLst>
              <a:ext uri="{FF2B5EF4-FFF2-40B4-BE49-F238E27FC236}">
                <a16:creationId xmlns:a16="http://schemas.microsoft.com/office/drawing/2014/main" id="{1780E1B1-E95E-8DF8-F22F-2859C3070A3A}"/>
              </a:ext>
            </a:extLst>
          </p:cNvPr>
          <p:cNvPicPr>
            <a:picLocks noChangeAspect="1"/>
          </p:cNvPicPr>
          <p:nvPr/>
        </p:nvPicPr>
        <p:blipFill>
          <a:blip r:embed="rId4"/>
          <a:stretch>
            <a:fillRect/>
          </a:stretch>
        </p:blipFill>
        <p:spPr>
          <a:xfrm>
            <a:off x="227772" y="3886373"/>
            <a:ext cx="4586274" cy="277858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320982" y="0"/>
            <a:ext cx="2981643" cy="830997"/>
          </a:xfrm>
        </p:spPr>
        <p:txBody>
          <a:bodyPr>
            <a:normAutofit/>
          </a:bodyPr>
          <a:lstStyle/>
          <a:p>
            <a:r>
              <a:rPr lang="en-GB" sz="4400" dirty="0"/>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2B00E50-4EE9-68CC-387B-993303627DB4}"/>
              </a:ext>
            </a:extLst>
          </p:cNvPr>
          <p:cNvPicPr>
            <a:picLocks noChangeAspect="1"/>
          </p:cNvPicPr>
          <p:nvPr/>
        </p:nvPicPr>
        <p:blipFill>
          <a:blip r:embed="rId3"/>
          <a:stretch>
            <a:fillRect/>
          </a:stretch>
        </p:blipFill>
        <p:spPr>
          <a:xfrm>
            <a:off x="0" y="785177"/>
            <a:ext cx="4879518" cy="3108093"/>
          </a:xfrm>
          <a:prstGeom prst="rect">
            <a:avLst/>
          </a:prstGeom>
          <a:ln>
            <a:solidFill>
              <a:schemeClr val="tx1"/>
            </a:solidFill>
          </a:ln>
        </p:spPr>
      </p:pic>
      <p:pic>
        <p:nvPicPr>
          <p:cNvPr id="9" name="Picture 8">
            <a:extLst>
              <a:ext uri="{FF2B5EF4-FFF2-40B4-BE49-F238E27FC236}">
                <a16:creationId xmlns:a16="http://schemas.microsoft.com/office/drawing/2014/main" id="{DC15F67E-D4E2-4ED6-E259-99F46FDC5B82}"/>
              </a:ext>
            </a:extLst>
          </p:cNvPr>
          <p:cNvPicPr>
            <a:picLocks noChangeAspect="1"/>
          </p:cNvPicPr>
          <p:nvPr/>
        </p:nvPicPr>
        <p:blipFill>
          <a:blip r:embed="rId4"/>
          <a:stretch>
            <a:fillRect/>
          </a:stretch>
        </p:blipFill>
        <p:spPr>
          <a:xfrm>
            <a:off x="5082302" y="785176"/>
            <a:ext cx="5586057" cy="3108094"/>
          </a:xfrm>
          <a:prstGeom prst="rect">
            <a:avLst/>
          </a:prstGeom>
          <a:ln>
            <a:solidFill>
              <a:schemeClr val="tx1"/>
            </a:solidFill>
          </a:ln>
        </p:spPr>
      </p:pic>
      <p:pic>
        <p:nvPicPr>
          <p:cNvPr id="12" name="Picture 11">
            <a:extLst>
              <a:ext uri="{FF2B5EF4-FFF2-40B4-BE49-F238E27FC236}">
                <a16:creationId xmlns:a16="http://schemas.microsoft.com/office/drawing/2014/main" id="{BBE60C02-2B40-81E1-7A83-76F509823FF9}"/>
              </a:ext>
            </a:extLst>
          </p:cNvPr>
          <p:cNvPicPr>
            <a:picLocks noChangeAspect="1"/>
          </p:cNvPicPr>
          <p:nvPr/>
        </p:nvPicPr>
        <p:blipFill>
          <a:blip r:embed="rId5"/>
          <a:stretch>
            <a:fillRect/>
          </a:stretch>
        </p:blipFill>
        <p:spPr>
          <a:xfrm>
            <a:off x="0" y="4123570"/>
            <a:ext cx="10843936" cy="2627393"/>
          </a:xfrm>
          <a:prstGeom prst="rect">
            <a:avLst/>
          </a:prstGeom>
          <a:ln>
            <a:solidFill>
              <a:schemeClr val="tx1"/>
            </a:solidFill>
          </a:ln>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wrap="square">
            <a:normAutofit/>
          </a:bodyPr>
          <a:lstStyle/>
          <a:p>
            <a:pPr algn="l"/>
            <a:r>
              <a:rPr sz="2500" b="1">
                <a:solidFill>
                  <a:srgbClr val="282828"/>
                </a:solidFill>
                <a:latin typeface="Aptos"/>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914400" y="1508760"/>
            <a:ext cx="9144000" cy="4023360"/>
          </a:xfrm>
          <a:prstGeom prst="rect">
            <a:avLst/>
          </a:prstGeom>
          <a:noFill/>
        </p:spPr>
        <p:txBody>
          <a:bodyPr wrap="square">
            <a:spAutoFit/>
          </a:bodyPr>
          <a:lstStyle/>
          <a:p>
            <a:pPr>
              <a:spcAft>
                <a:spcPts val="800"/>
              </a:spcAft>
              <a:defRPr sz="1900">
                <a:solidFill>
                  <a:srgbClr val="2D2D2D"/>
                </a:solidFill>
                <a:latin typeface="Aptos"/>
              </a:defRPr>
            </a:pPr>
            <a:r>
              <a:t>• Build an interactive Power BI dashboard using the cleaned dataset.</a:t>
            </a:r>
          </a:p>
          <a:p>
            <a:pPr>
              <a:spcAft>
                <a:spcPts val="800"/>
              </a:spcAft>
              <a:defRPr sz="1900">
                <a:solidFill>
                  <a:srgbClr val="2D2D2D"/>
                </a:solidFill>
                <a:latin typeface="Aptos"/>
              </a:defRPr>
            </a:pPr>
            <a:r>
              <a:t>• Add more years of data for long-term seasonal trends.</a:t>
            </a:r>
          </a:p>
          <a:p>
            <a:pPr>
              <a:spcAft>
                <a:spcPts val="800"/>
              </a:spcAft>
              <a:defRPr sz="1900">
                <a:solidFill>
                  <a:srgbClr val="2D2D2D"/>
                </a:solidFill>
                <a:latin typeface="Aptos"/>
              </a:defRPr>
            </a:pPr>
            <a:r>
              <a:t>• Use machine learning for future crop-yield or profit prediction.</a:t>
            </a:r>
          </a:p>
          <a:p>
            <a:pPr>
              <a:spcAft>
                <a:spcPts val="800"/>
              </a:spcAft>
              <a:defRPr sz="1900">
                <a:solidFill>
                  <a:srgbClr val="2D2D2D"/>
                </a:solidFill>
                <a:latin typeface="Aptos"/>
              </a:defRPr>
            </a:pPr>
            <a:r>
              <a:t>• Combine weather and market-price information.</a:t>
            </a:r>
          </a:p>
          <a:p>
            <a:pPr>
              <a:spcAft>
                <a:spcPts val="800"/>
              </a:spcAft>
              <a:defRPr sz="1900">
                <a:solidFill>
                  <a:srgbClr val="2D2D2D"/>
                </a:solidFill>
                <a:latin typeface="Aptos"/>
              </a:defRPr>
            </a:pPr>
            <a:r>
              <a:t>• Develop region-specific recommendations for crop and irrigation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wrap="square">
            <a:normAutofit/>
          </a:bodyPr>
          <a:lstStyle/>
          <a:p>
            <a:pPr algn="l"/>
            <a:r>
              <a:rPr sz="2500" b="1">
                <a:solidFill>
                  <a:srgbClr val="282828"/>
                </a:solidFill>
                <a:latin typeface="Aptos"/>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75957" y="1786634"/>
            <a:ext cx="2743200" cy="457200"/>
          </a:xfrm>
          <a:prstGeom prst="rect">
            <a:avLst/>
          </a:prstGeom>
          <a:noFill/>
        </p:spPr>
        <p:txBody>
          <a:bodyPr wrap="square">
            <a:spAutoFit/>
          </a:bodyPr>
          <a:lstStyle/>
          <a:p>
            <a:pPr algn="l"/>
            <a:r>
              <a:rPr sz="2000" b="1">
                <a:solidFill>
                  <a:srgbClr val="282828"/>
                </a:solidFill>
                <a:latin typeface="Aptos"/>
              </a:rPr>
              <a:t>Project repository:</a:t>
            </a:r>
          </a:p>
        </p:txBody>
      </p:sp>
      <p:sp>
        <p:nvSpPr>
          <p:cNvPr id="26" name="TextBox 25">
            <a:hlinkClick r:id="rId3"/>
          </p:cNvPr>
          <p:cNvSpPr txBox="1"/>
          <p:nvPr/>
        </p:nvSpPr>
        <p:spPr>
          <a:xfrm>
            <a:off x="675957" y="2399851"/>
            <a:ext cx="8015849" cy="353943"/>
          </a:xfrm>
          <a:prstGeom prst="rect">
            <a:avLst/>
          </a:prstGeom>
          <a:noFill/>
        </p:spPr>
        <p:txBody>
          <a:bodyPr wrap="none">
            <a:spAutoFit/>
          </a:bodyPr>
          <a:lstStyle/>
          <a:p>
            <a:r>
              <a:rPr lang="en-IN" sz="1700" u="sng" dirty="0">
                <a:solidFill>
                  <a:srgbClr val="235082"/>
                </a:solidFill>
                <a:latin typeface="Aptos"/>
              </a:rPr>
              <a:t>https://github.com/Prachichoudhary28/Seasonal-Agriculture-Performance-Analysis</a:t>
            </a:r>
            <a:endParaRPr sz="1700" u="sng" dirty="0">
              <a:solidFill>
                <a:srgbClr val="235082"/>
              </a:solidFill>
              <a:latin typeface="Aptos"/>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wrap="square">
            <a:normAutofit/>
          </a:bodyPr>
          <a:lstStyle/>
          <a:p>
            <a:pPr algn="l"/>
            <a:r>
              <a:rPr sz="2200" b="1">
                <a:solidFill>
                  <a:srgbClr val="282828"/>
                </a:solidFill>
                <a:latin typeface="Aptos"/>
              </a:rPr>
              <a:t>VOIS Course Completion Certificate</a:t>
            </a:r>
            <a:br/>
            <a:r>
              <a:rPr sz="2200" b="1">
                <a:solidFill>
                  <a:srgbClr val="282828"/>
                </a:solidFill>
                <a:latin typeface="Aptos"/>
              </a:rPr>
              <a:t>Course name - Data Visualization</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8D51330-5C9F-DC0C-2987-BC0E374E3A34}"/>
              </a:ext>
            </a:extLst>
          </p:cNvPr>
          <p:cNvPicPr>
            <a:picLocks noChangeAspect="1"/>
          </p:cNvPicPr>
          <p:nvPr/>
        </p:nvPicPr>
        <p:blipFill>
          <a:blip r:embed="rId3"/>
          <a:stretch>
            <a:fillRect/>
          </a:stretch>
        </p:blipFill>
        <p:spPr>
          <a:xfrm>
            <a:off x="1234487" y="1358707"/>
            <a:ext cx="7292972" cy="512870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5266" y="65712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endParaRP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7" name="TextBox 46"/>
          <p:cNvSpPr txBox="1"/>
          <p:nvPr/>
        </p:nvSpPr>
        <p:spPr>
          <a:xfrm>
            <a:off x="1457109" y="1692280"/>
            <a:ext cx="7315200" cy="640080"/>
          </a:xfrm>
          <a:prstGeom prst="rect">
            <a:avLst/>
          </a:prstGeom>
          <a:noFill/>
        </p:spPr>
        <p:txBody>
          <a:bodyPr wrap="square">
            <a:spAutoFit/>
          </a:bodyPr>
          <a:lstStyle/>
          <a:p>
            <a:pPr algn="ctr"/>
            <a:r>
              <a:rPr sz="2000" b="0" dirty="0">
                <a:solidFill>
                  <a:srgbClr val="323232"/>
                </a:solidFill>
                <a:latin typeface="Aptos"/>
              </a:rPr>
              <a:t>Seasonal Agriculture Performance Analysis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628</TotalTime>
  <Words>681</Words>
  <Application>Microsoft Office PowerPoint</Application>
  <PresentationFormat>Widescreen</PresentationFormat>
  <Paragraphs>72</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Trebuchet MS</vt:lpstr>
      <vt:lpstr>Wingdings</vt:lpstr>
      <vt:lpstr>Wingdings 3</vt:lpstr>
      <vt:lpstr>Facet</vt:lpstr>
      <vt:lpstr>Project Title - Seasonal Agriculture Performance Analysis</vt:lpstr>
      <vt:lpstr>PROBLEM STATEMENT</vt:lpstr>
      <vt:lpstr>Project Description</vt:lpstr>
      <vt:lpstr>WHO ARE THE END USERS?</vt:lpstr>
      <vt:lpstr>Technology Used</vt:lpstr>
      <vt:lpstr>RESULTS – DATA UNDERSTANDING &amp; CLEANING</vt:lpstr>
      <vt:lpstr>RESULTS – DATA UNDERSTANDING &amp; CLEANING</vt:lpstr>
      <vt:lpstr>RESULTS – SEASONAL PERFORMANCE</vt:lpstr>
      <vt:lpstr>RESULTS – CROP &amp; SEASON COMPARISON</vt:lpstr>
      <vt:lpstr>RESULTS – ADDITIONAL ANALYSIS &amp; INSIGHTS</vt:lpstr>
      <vt:lpstr>RESULTS </vt:lpstr>
      <vt:lpstr>Future Scope</vt:lpstr>
      <vt:lpstr>GitHub Link</vt:lpstr>
      <vt:lpstr>VOIS Course Completion Certificate Course name - Data Visualization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Sagar Chaudhary</cp:lastModifiedBy>
  <cp:revision>98</cp:revision>
  <dcterms:created xsi:type="dcterms:W3CDTF">2021-07-11T13:13:15Z</dcterms:created>
  <dcterms:modified xsi:type="dcterms:W3CDTF">2026-09-08T13:21:02Z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